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41affce21b408d" /><Relationship Type="http://schemas.openxmlformats.org/officeDocument/2006/relationships/extended-properties" Target="/docProps/app.xml" Id="Rb129a5b95b7d4800" /><Relationship Type="http://schemas.openxmlformats.org/officeDocument/2006/relationships/officeDocument" Target="/ppt/presentation.xml" Id="Ra29c945109d74a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025d5d10524e9c"/>
  </p:sldMasterIdLst>
  <p:notesMasterIdLst>
    <p:notesMasterId xmlns:r="http://schemas.openxmlformats.org/officeDocument/2006/relationships" r:id="R605a6ba458b447c9"/>
  </p:notesMasterIdLst>
  <p:sldIdLst>
    <p:sldId xmlns:r="http://schemas.openxmlformats.org/officeDocument/2006/relationships" id="256" r:id="Rf0a2a5a8be5a4ea4"/>
    <p:sldId xmlns:r="http://schemas.openxmlformats.org/officeDocument/2006/relationships" id="257" r:id="Ra23900f4386d49f6"/>
    <p:sldId xmlns:r="http://schemas.openxmlformats.org/officeDocument/2006/relationships" id="258" r:id="Rcf539477d7294038"/>
    <p:sldId xmlns:r="http://schemas.openxmlformats.org/officeDocument/2006/relationships" id="259" r:id="Rf6dd3e0e628c4fd7"/>
    <p:sldId xmlns:r="http://schemas.openxmlformats.org/officeDocument/2006/relationships" id="260" r:id="R6e0eda5f4c9a40b4"/>
    <p:sldId xmlns:r="http://schemas.openxmlformats.org/officeDocument/2006/relationships" id="261" r:id="R972495c0ad464f83"/>
    <p:sldId xmlns:r="http://schemas.openxmlformats.org/officeDocument/2006/relationships" id="262" r:id="R5ae01321882747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e4206af76642bc" /><Relationship Type="http://schemas.openxmlformats.org/officeDocument/2006/relationships/slideMaster" Target="/ppt/slideMasters/slideMaster1.xml" Id="R73025d5d10524e9c" /><Relationship Type="http://schemas.openxmlformats.org/officeDocument/2006/relationships/notesMaster" Target="/ppt/notesMasters/notesMaster1.xml" Id="R605a6ba458b447c9" /><Relationship Type="http://schemas.openxmlformats.org/officeDocument/2006/relationships/presProps" Target="/ppt/presProps.xml" Id="Rcd359023eb87423b" /><Relationship Type="http://schemas.openxmlformats.org/officeDocument/2006/relationships/tableStyles" Target="/ppt/tableStyles.xml" Id="R8f5c4d0a664545d7" /><Relationship Type="http://schemas.openxmlformats.org/officeDocument/2006/relationships/slide" Target="/ppt/slides/slide1.xml" Id="Rf0a2a5a8be5a4ea4" /><Relationship Type="http://schemas.openxmlformats.org/officeDocument/2006/relationships/slide" Target="/ppt/slides/slide2.xml" Id="Ra23900f4386d49f6" /><Relationship Type="http://schemas.openxmlformats.org/officeDocument/2006/relationships/slide" Target="/ppt/slides/slide3.xml" Id="Rcf539477d7294038" /><Relationship Type="http://schemas.openxmlformats.org/officeDocument/2006/relationships/slide" Target="/ppt/slides/slide4.xml" Id="Rf6dd3e0e628c4fd7" /><Relationship Type="http://schemas.openxmlformats.org/officeDocument/2006/relationships/slide" Target="/ppt/slides/slide5.xml" Id="R6e0eda5f4c9a40b4" /><Relationship Type="http://schemas.openxmlformats.org/officeDocument/2006/relationships/slide" Target="/ppt/slides/slide6.xml" Id="R972495c0ad464f83" /><Relationship Type="http://schemas.openxmlformats.org/officeDocument/2006/relationships/slide" Target="/ppt/slides/slide7.xml" Id="R5ae01321882747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3388f0fabe41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49ddc32d0e4641" /><Relationship Type="http://schemas.openxmlformats.org/officeDocument/2006/relationships/notesMaster" Target="/ppt/notesMasters/notesMaster1.xml" Id="R19381ae350d04a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de8577befa42fa" /><Relationship Type="http://schemas.openxmlformats.org/officeDocument/2006/relationships/notesMaster" Target="/ppt/notesMasters/notesMaster1.xml" Id="Re8edb304afda44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43c2128a62491a" /><Relationship Type="http://schemas.openxmlformats.org/officeDocument/2006/relationships/notesMaster" Target="/ppt/notesMasters/notesMaster1.xml" Id="Raefc4f71317540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faf753ca5740f4" /><Relationship Type="http://schemas.openxmlformats.org/officeDocument/2006/relationships/notesMaster" Target="/ppt/notesMasters/notesMaster1.xml" Id="Rc61720fe4da549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ed9e28233d4245" /><Relationship Type="http://schemas.openxmlformats.org/officeDocument/2006/relationships/notesMaster" Target="/ppt/notesMasters/notesMaster1.xml" Id="Ra50b356454824a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16fa742f6a441f" /><Relationship Type="http://schemas.openxmlformats.org/officeDocument/2006/relationships/notesMaster" Target="/ppt/notesMasters/notesMaster1.xml" Id="R47ae7229f9fc4f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4986fc8e1f34eaf" /><Relationship Type="http://schemas.openxmlformats.org/officeDocument/2006/relationships/notesMaster" Target="/ppt/notesMasters/notesMaster1.xml" Id="R7055e7e68a1c4b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docs/ARCHITECTURE.md; docs/PMI.md; reports/pmi/quality.json; reports/pmi/live.json. Формальная приёмка и подписи комиссии не оформлялись.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docker-compose.yml; docs/ARCHITECTURE.md. Четыре отдельных контейнера; MongoDB и скорер во внутренней сети.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scorer/scoring.py, scorer/skills.py, scorer/privacy.py, scorer/similarity.py; config/algorithm.json. Пример описывает текущие фиксированные веса.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data/pmi/dataset.json и manifest.json; pmi/dataset.py. Разметка — взвешенное покрытие скрытых навыков до рендеринга текста/PDF. Контролируемая синтетика, не экспертная оценка реального найма.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reports/pmi/quality.json. Порог релевантности 0.1. Линейный gain для nDCG. Spearman рассчитан буквально по формуле (5) ПМИ со средними рангами; стандартная корреляция рангов со связями сохранена в JSON отдельно.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reports/pmi/unit.xml; frontend/src/App.test.js; reports/pmi/live.json. Контейнерные проверки выполнены на Mac с Linux/amd64 в Docker Desktop; независимый стенд Заказчика проверяется отдельно.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reports/pmi/known_exceptions.md; reports/pmi/protocol.md; docs/PMI_MANUAL.md; ПМИ_Т1_1_v1.docx. Решение пользователя: сохранить историю Git, отметить замечание А-18.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18a884ac5f42e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c372520fd5433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fe38ac2f084f2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74ad28b99e47a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7f03e3f5d044b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6de899b69a42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C75CD5-3A20-4561-8460-191ECA8AF2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3C17493-7B18-484D-A73C-39D90B3170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B115D7F-AC5F-4109-A748-41C6E46670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69288EE-A9EE-44F2-B284-D56268E52A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3FB2E8A-CE04-4152-976D-9FF70AAA02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5D3F175-6D82-4811-9CF9-8028C75256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258B0A5-C22D-456B-998C-1EBCE86C6C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8839DAB-1BD3-45FE-9F75-6715FEBDA41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EABFBE-1334-439C-8203-9F0FD9A11F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D49A271-6C48-46B0-AFA9-DC4EA50DAF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b84b937718482d" /><Relationship Type="http://schemas.openxmlformats.org/officeDocument/2006/relationships/slideLayout" Target="/ppt/slideLayouts/slideLayout1.xml" Id="Rda6139ac7b8d4e67" /><Relationship Type="http://schemas.openxmlformats.org/officeDocument/2006/relationships/slideLayout" Target="/ppt/slideLayouts/slideLayout2.xml" Id="R33c42a81405b4491" /><Relationship Type="http://schemas.openxmlformats.org/officeDocument/2006/relationships/slideLayout" Target="/ppt/slideLayouts/slideLayout3.xml" Id="R8858c1b624b545d3" /><Relationship Type="http://schemas.openxmlformats.org/officeDocument/2006/relationships/slideLayout" Target="/ppt/slideLayouts/slideLayout4.xml" Id="Rd44e72a4b1ea4a34" /><Relationship Type="http://schemas.openxmlformats.org/officeDocument/2006/relationships/slideLayout" Target="/ppt/slideLayouts/slideLayout5.xml" Id="Rc6e2333536dd4b85" /><Relationship Type="http://schemas.openxmlformats.org/officeDocument/2006/relationships/slideLayout" Target="/ppt/slideLayouts/slideLayout6.xml" Id="R4183256c2d7e40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6139ac7b8d4e67"/>
    <p:sldLayoutId xmlns:r="http://schemas.openxmlformats.org/officeDocument/2006/relationships" id="2147483650" r:id="R33c42a81405b4491"/>
    <p:sldLayoutId xmlns:r="http://schemas.openxmlformats.org/officeDocument/2006/relationships" id="2147483651" r:id="R8858c1b624b545d3"/>
    <p:sldLayoutId xmlns:r="http://schemas.openxmlformats.org/officeDocument/2006/relationships" id="2147483652" r:id="Rd44e72a4b1ea4a34"/>
    <p:sldLayoutId xmlns:r="http://schemas.openxmlformats.org/officeDocument/2006/relationships" id="2147483653" r:id="Rc6e2333536dd4b85"/>
    <p:sldLayoutId xmlns:r="http://schemas.openxmlformats.org/officeDocument/2006/relationships" id="2147483654" r:id="R4183256c2d7e40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3ef8c8c2be4c08" /><Relationship Type="http://schemas.openxmlformats.org/officeDocument/2006/relationships/notesSlide" Target="/ppt/notesSlides/notesSlide1.xml" Id="R690f3a35efab44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a4a2370ad7464e" /><Relationship Type="http://schemas.openxmlformats.org/officeDocument/2006/relationships/notesSlide" Target="/ppt/notesSlides/notesSlide2.xml" Id="Rb7b6ded87d7847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3042c9c6df4dcd" /><Relationship Type="http://schemas.openxmlformats.org/officeDocument/2006/relationships/notesSlide" Target="/ppt/notesSlides/notesSlide3.xml" Id="Re223ee3eebd44b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a65668aa54492d" /><Relationship Type="http://schemas.openxmlformats.org/officeDocument/2006/relationships/notesSlide" Target="/ppt/notesSlides/notesSlide4.xml" Id="R132ff6ecee164b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0aa9287b2741f9" /><Relationship Type="http://schemas.openxmlformats.org/officeDocument/2006/relationships/notesSlide" Target="/ppt/notesSlides/notesSlide5.xml" Id="Rd45a07799bdd48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cca6ac1ea247c1" /><Relationship Type="http://schemas.openxmlformats.org/officeDocument/2006/relationships/notesSlide" Target="/ppt/notesSlides/notesSlide6.xml" Id="R6cd5e74739f946f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443ec0b5574422" /><Relationship Type="http://schemas.openxmlformats.org/officeDocument/2006/relationships/notesSlide" Target="/ppt/notesSlides/notesSlide7.xml" Id="Ra05de832064143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B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50E701-3E7A-4CCF-BCD8-FEAF38ED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Скоринг резюме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63A3E1-760F-42D1-839D-478653D3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DAE5F3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550" b="0">
                <a:solidFill>
                  <a:srgbClr val="DAE5F3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550" b="0">
                <a:solidFill>
                  <a:srgbClr val="DAE5F3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550" b="0">
                <a:solidFill>
                  <a:srgbClr val="DAE5F3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550" b="0">
                <a:solidFill>
                  <a:srgbClr val="DAE5F3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550" b="0">
                <a:solidFill>
                  <a:srgbClr val="DAE5F3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550" b="0">
                <a:solidFill>
                  <a:srgbClr val="DAE5F3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550" b="0">
                <a:solidFill>
                  <a:srgbClr val="DAE5F3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550" b="0">
                <a:solidFill>
                  <a:srgbClr val="DAE5F3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550" b="0">
                <a:solidFill>
                  <a:srgbClr val="DAE5F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DAE5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DAE5F3"/>
                </a:solidFill>
                <a:latin typeface="Helvetica Neue"/>
                <a:ea typeface="Helvetica Neue"/>
                <a:cs typeface="Helvetica Neue"/>
              </a:rPr>
              <a:t>Алгоритм и испытания по ПМИ Т1-1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191D3F-2993-4EDB-92E9-61897AAE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DAE5F3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950" b="0">
                <a:solidFill>
                  <a:srgbClr val="DAE5F3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950" b="0">
                <a:solidFill>
                  <a:srgbClr val="DAE5F3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950" b="0">
                <a:solidFill>
                  <a:srgbClr val="DAE5F3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950" b="0">
                <a:solidFill>
                  <a:srgbClr val="DAE5F3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950" b="0">
                <a:solidFill>
                  <a:srgbClr val="DAE5F3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950" b="0">
                <a:solidFill>
                  <a:srgbClr val="DAE5F3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950" b="0">
                <a:solidFill>
                  <a:srgbClr val="DAE5F3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950" b="0">
                <a:solidFill>
                  <a:srgbClr val="DAE5F3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950" b="0">
                <a:solidFill>
                  <a:srgbClr val="DAE5F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DAE5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DAE5F3"/>
                </a:solidFill>
                <a:latin typeface="Helvetica Neue"/>
                <a:ea typeface="Helvetica Neue"/>
                <a:cs typeface="Helvetica Neue"/>
              </a:rPr>
              <a:t>21 октября 2026</a:t>
            </a:r>
          </a:p>
        </p:txBody>
      </p:sp>
    </p:spTree>
    <p:extLst>
      <p:ext uri="{BB962C8B-B14F-4D97-AF65-F5344CB8AC3E}">
        <p14:creationId xmlns:p14="http://schemas.microsoft.com/office/powerpoint/2010/main" val="2645025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27A3E8-8801-4CD6-B4B2-98305566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Архитектура сервиса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41C421-D875-4E15-B9AF-5509A2BF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668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rPr>
              <a:t>React и Nginx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31C801-02CA-43B1-AA7D-192A05B3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85925"/>
            <a:ext cx="723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Вакансия, загрузка документов, рейтинг и карточка кандидата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C0EC94-7494-4183-BB0D-048B5DCE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336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rPr>
              <a:t>FastAPI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1B899-7931-4A35-A744-FD32D196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52725"/>
            <a:ext cx="723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Проверка файлов, исходный текст, журнал и OpenAPI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3A3FB4-E3F6-4C7E-808D-4F600AA8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004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rPr>
              <a:t>Сервис скоринга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527518-11DC-4636-9608-7CAD86EF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19525"/>
            <a:ext cx="723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Словарь навыков, нормализация, TF-IDF и расчёт Score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91B406-20AE-4632-8470-B0346913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672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rPr>
              <a:t>MongoDB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00A332-124F-49F6-868D-4208B6EC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86325"/>
            <a:ext cx="723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Оригиналы и SHA-256, результаты, даты и история HR</a:t>
            </a:r>
          </a:p>
        </p:txBody>
      </p:sp>
    </p:spTree>
    <p:extLst>
      <p:ext uri="{BB962C8B-B14F-4D97-AF65-F5344CB8AC3E}">
        <p14:creationId xmlns:p14="http://schemas.microsoft.com/office/powerpoint/2010/main" val="9759597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146E84-C9B9-48A0-B576-D625ED34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Расчёт оценки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B1A396-0595-4A30-9F48-C7C096C6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rPr>
              <a:t>Score = round(100 × (0.85 × навыки + 0.15 × TF-IDF))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0175C1-EEF4-4D48-A17E-AF69AE53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10572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Критический навык весит 2, обычный — 1.</a:t>
            </a:r>
          </a:p>
          <a:p xmlns:a="http://schemas.openxmlformats.org/drawingml/2006/main">
            <a:pPr>
              <a:defRPr sz="21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Фиксированный референс-корпус сохраняет оценку пары при смене пула.</a:t>
            </a:r>
          </a:p>
          <a:p xmlns:a="http://schemas.openxmlformats.org/drawingml/2006/main">
            <a:pPr>
              <a:defRPr sz="21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ФИО, возраст, пол, адрес и гражданство исключаются из скоринга.</a:t>
            </a:r>
          </a:p>
          <a:p xmlns:a="http://schemas.openxmlformats.org/drawingml/2006/main">
            <a:pPr>
              <a:defRPr sz="21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Опыт уточняет порядок при одинаковом Score.</a:t>
            </a:r>
          </a:p>
        </p:txBody>
      </p:sp>
    </p:spTree>
    <p:extLst>
      <p:ext uri="{BB962C8B-B14F-4D97-AF65-F5344CB8AC3E}">
        <p14:creationId xmlns:p14="http://schemas.microsoft.com/office/powerpoint/2010/main" val="11603591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80B5B0-3823-4893-875C-47C1821E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Приёмочный PDF-набор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57BFFB-0D0F-4839-9C83-398A75F8068F}"/>
              </a:ext>
            </a:extLst>
          </p:cNvPr>
          <p:cNvGraphicFramePr/>
          <p:nvPr/>
        </p:nvGraphicFramePr>
        <p:xfrm>
          <a:off xmlns:a="http://schemas.openxmlformats.org/drawingml/2006/main" x="723900" y="1619250"/>
          <a:ext xmlns:a="http://schemas.openxmlformats.org/drawingml/2006/main" cx="106680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667500"/>
                <a:gridCol w="2000250"/>
                <a:gridCol w="2000250"/>
              </a:tblGrid>
              <a:tr h="555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Направление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E8"/>
                      </a:solidFill>
                      <a:prstDash val="solid"/>
                    </a:lnL>
                    <a:lnR w="9525">
                      <a:solidFill>
                        <a:srgbClr val="D7DFE8"/>
                      </a:solidFill>
                      <a:prstDash val="solid"/>
                    </a:lnR>
                    <a:lnT w="9525">
                      <a:solidFill>
                        <a:srgbClr val="D7DFE8"/>
                      </a:solidFill>
                      <a:prstDash val="solid"/>
                    </a:lnT>
                    <a:lnB w="9525">
                      <a:solidFill>
                        <a:srgbClr val="D7DFE8"/>
                      </a:solidFill>
                      <a:prstDash val="solid"/>
                    </a:lnB>
                    <a:solidFill>
                      <a:srgbClr val="163B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Резюме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8"/>
                      </a:solidFill>
                      <a:prstDash val="solid"/>
                    </a:lnR>
                    <a:lnT w="9525">
                      <a:solidFill>
                        <a:srgbClr val="D7DFE8"/>
                      </a:solidFill>
                      <a:prstDash val="solid"/>
                    </a:lnT>
                    <a:lnB w="9525">
                      <a:solidFill>
                        <a:srgbClr val="D7DFE8"/>
                      </a:solidFill>
                      <a:prstDash val="solid"/>
                    </a:lnB>
                    <a:solidFill>
                      <a:srgbClr val="163B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Вакансии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8"/>
                      </a:solidFill>
                      <a:prstDash val="solid"/>
                    </a:lnR>
                    <a:lnT w="9525">
                      <a:solidFill>
                        <a:srgbClr val="D7DFE8"/>
                      </a:solidFill>
                      <a:prstDash val="solid"/>
                    </a:lnT>
                    <a:lnB w="9525">
                      <a:solidFill>
                        <a:srgbClr val="D7DFE8"/>
                      </a:solidFill>
                      <a:prstDash val="solid"/>
                    </a:lnB>
                    <a:solidFill>
                      <a:srgbClr val="163B66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0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Разработка ПО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E8"/>
                      </a:solidFill>
                      <a:prstDash val="solid"/>
                    </a:lnL>
                    <a:lnR w="9525">
                      <a:solidFill>
                        <a:srgbClr val="D7DFE8"/>
                      </a:solidFill>
                      <a:prstDash val="solid"/>
                    </a:lnR>
                    <a:lnB w="9525">
                      <a:solidFill>
                        <a:srgbClr val="D7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0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8"/>
                      </a:solidFill>
                      <a:prstDash val="solid"/>
                    </a:lnR>
                    <a:lnB w="9525">
                      <a:solidFill>
                        <a:srgbClr val="D7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0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8"/>
                      </a:solidFill>
                      <a:prstDash val="solid"/>
                    </a:lnR>
                    <a:lnB w="9525">
                      <a:solidFill>
                        <a:srgbClr val="D7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0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Бухгалтерия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E8"/>
                      </a:solidFill>
                      <a:prstDash val="solid"/>
                    </a:lnL>
                    <a:lnR w="9525">
                      <a:solidFill>
                        <a:srgbClr val="D7DFE8"/>
                      </a:solidFill>
                      <a:prstDash val="solid"/>
                    </a:lnR>
                    <a:lnB w="9525">
                      <a:solidFill>
                        <a:srgbClr val="D7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0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8"/>
                      </a:solidFill>
                      <a:prstDash val="solid"/>
                    </a:lnR>
                    <a:lnB w="9525">
                      <a:solidFill>
                        <a:srgbClr val="D7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0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8"/>
                      </a:solidFill>
                      <a:prstDash val="solid"/>
                    </a:lnR>
                    <a:lnB w="9525">
                      <a:solidFill>
                        <a:srgbClr val="D7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0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Продажи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E8"/>
                      </a:solidFill>
                      <a:prstDash val="solid"/>
                    </a:lnL>
                    <a:lnR w="9525">
                      <a:solidFill>
                        <a:srgbClr val="D7DFE8"/>
                      </a:solidFill>
                      <a:prstDash val="solid"/>
                    </a:lnR>
                    <a:lnB w="9525">
                      <a:solidFill>
                        <a:srgbClr val="D7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0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8"/>
                      </a:solidFill>
                      <a:prstDash val="solid"/>
                    </a:lnR>
                    <a:lnB w="9525">
                      <a:solidFill>
                        <a:srgbClr val="D7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0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8"/>
                      </a:solidFill>
                      <a:prstDash val="solid"/>
                    </a:lnR>
                    <a:lnB w="9525">
                      <a:solidFill>
                        <a:srgbClr val="D7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0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Маркетинг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E8"/>
                      </a:solidFill>
                      <a:prstDash val="solid"/>
                    </a:lnL>
                    <a:lnR w="9525">
                      <a:solidFill>
                        <a:srgbClr val="D7DFE8"/>
                      </a:solidFill>
                      <a:prstDash val="solid"/>
                    </a:lnR>
                    <a:lnB w="9525">
                      <a:solidFill>
                        <a:srgbClr val="D7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0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8"/>
                      </a:solidFill>
                      <a:prstDash val="solid"/>
                    </a:lnR>
                    <a:lnB w="9525">
                      <a:solidFill>
                        <a:srgbClr val="D7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0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8"/>
                      </a:solidFill>
                      <a:prstDash val="solid"/>
                    </a:lnR>
                    <a:lnB w="9525">
                      <a:solidFill>
                        <a:srgbClr val="D7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0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Проектирование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E8"/>
                      </a:solidFill>
                      <a:prstDash val="solid"/>
                    </a:lnL>
                    <a:lnR w="9525">
                      <a:solidFill>
                        <a:srgbClr val="D7DFE8"/>
                      </a:solidFill>
                      <a:prstDash val="solid"/>
                    </a:lnR>
                    <a:lnB w="9525">
                      <a:solidFill>
                        <a:srgbClr val="D7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0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8"/>
                      </a:solidFill>
                      <a:prstDash val="solid"/>
                    </a:lnR>
                    <a:lnB w="9525">
                      <a:solidFill>
                        <a:srgbClr val="D7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0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8"/>
                      </a:solidFill>
                      <a:prstDash val="solid"/>
                    </a:lnR>
                    <a:lnB w="9525">
                      <a:solidFill>
                        <a:srgbClr val="D7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F4C99B-57F6-4DA9-B73B-2FB96955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rPr>
              <a:t>200 резюме · 10 вакансий · 2000 пар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9CB520-2E6D-4D25-822D-4476841C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PDF, разметка и параметры зафиксированы по SHA-256 до испытаний</a:t>
            </a:r>
          </a:p>
        </p:txBody>
      </p:sp>
    </p:spTree>
    <p:extLst>
      <p:ext uri="{BB962C8B-B14F-4D97-AF65-F5344CB8AC3E}">
        <p14:creationId xmlns:p14="http://schemas.microsoft.com/office/powerpoint/2010/main" val="14031744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DC8F06-B2AC-4FA0-9465-16D68A9C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Качество по критериям ПМИ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7CEF64-28E1-42C3-925B-FD15EED0C040}"/>
              </a:ext>
            </a:extLst>
          </p:cNvPr>
          <p:cNvGraphicFramePr/>
          <p:nvPr/>
        </p:nvGraphicFramePr>
        <p:xfrm>
          <a:off xmlns:a="http://schemas.openxmlformats.org/drawingml/2006/main" x="723900" y="1619250"/>
          <a:ext xmlns:a="http://schemas.openxmlformats.org/drawingml/2006/main" cx="106680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905500"/>
                <a:gridCol w="2381250"/>
                <a:gridCol w="2381250"/>
              </a:tblGrid>
              <a:tr h="555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Метрика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E8"/>
                      </a:solidFill>
                      <a:prstDash val="solid"/>
                    </a:lnL>
                    <a:lnR w="9525">
                      <a:solidFill>
                        <a:srgbClr val="D7DFE8"/>
                      </a:solidFill>
                      <a:prstDash val="solid"/>
                    </a:lnR>
                    <a:lnT w="9525">
                      <a:solidFill>
                        <a:srgbClr val="D7DFE8"/>
                      </a:solidFill>
                      <a:prstDash val="solid"/>
                    </a:lnT>
                    <a:lnB w="9525">
                      <a:solidFill>
                        <a:srgbClr val="D7DFE8"/>
                      </a:solidFill>
                      <a:prstDash val="solid"/>
                    </a:lnB>
                    <a:solidFill>
                      <a:srgbClr val="163B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Значение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8"/>
                      </a:solidFill>
                      <a:prstDash val="solid"/>
                    </a:lnR>
                    <a:lnT w="9525">
                      <a:solidFill>
                        <a:srgbClr val="D7DFE8"/>
                      </a:solidFill>
                      <a:prstDash val="solid"/>
                    </a:lnT>
                    <a:lnB w="9525">
                      <a:solidFill>
                        <a:srgbClr val="D7DFE8"/>
                      </a:solidFill>
                      <a:prstDash val="solid"/>
                    </a:lnB>
                    <a:solidFill>
                      <a:srgbClr val="163B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Минимум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8"/>
                      </a:solidFill>
                      <a:prstDash val="solid"/>
                    </a:lnR>
                    <a:lnT w="9525">
                      <a:solidFill>
                        <a:srgbClr val="D7DFE8"/>
                      </a:solidFill>
                      <a:prstDash val="solid"/>
                    </a:lnT>
                    <a:lnB w="9525">
                      <a:solidFill>
                        <a:srgbClr val="D7DFE8"/>
                      </a:solidFill>
                      <a:prstDash val="solid"/>
                    </a:lnB>
                    <a:solidFill>
                      <a:srgbClr val="163B66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0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NDCG@10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E8"/>
                      </a:solidFill>
                      <a:prstDash val="solid"/>
                    </a:lnL>
                    <a:lnR w="9525">
                      <a:solidFill>
                        <a:srgbClr val="D7DFE8"/>
                      </a:solidFill>
                      <a:prstDash val="solid"/>
                    </a:lnR>
                    <a:lnB w="9525">
                      <a:solidFill>
                        <a:srgbClr val="D7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0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0.9962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8"/>
                      </a:solidFill>
                      <a:prstDash val="solid"/>
                    </a:lnR>
                    <a:lnB w="9525">
                      <a:solidFill>
                        <a:srgbClr val="D7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0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8"/>
                      </a:solidFill>
                      <a:prstDash val="solid"/>
                    </a:lnR>
                    <a:lnB w="9525">
                      <a:solidFill>
                        <a:srgbClr val="D7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0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Precision@5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E8"/>
                      </a:solidFill>
                      <a:prstDash val="solid"/>
                    </a:lnL>
                    <a:lnR w="9525">
                      <a:solidFill>
                        <a:srgbClr val="D7DFE8"/>
                      </a:solidFill>
                      <a:prstDash val="solid"/>
                    </a:lnR>
                    <a:lnB w="9525">
                      <a:solidFill>
                        <a:srgbClr val="D7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0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1.0000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8"/>
                      </a:solidFill>
                      <a:prstDash val="solid"/>
                    </a:lnR>
                    <a:lnB w="9525">
                      <a:solidFill>
                        <a:srgbClr val="D7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0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8"/>
                      </a:solidFill>
                      <a:prstDash val="solid"/>
                    </a:lnR>
                    <a:lnB w="9525">
                      <a:solidFill>
                        <a:srgbClr val="D7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0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Precision@10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E8"/>
                      </a:solidFill>
                      <a:prstDash val="solid"/>
                    </a:lnL>
                    <a:lnR w="9525">
                      <a:solidFill>
                        <a:srgbClr val="D7DFE8"/>
                      </a:solidFill>
                      <a:prstDash val="solid"/>
                    </a:lnR>
                    <a:lnB w="9525">
                      <a:solidFill>
                        <a:srgbClr val="D7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0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1.0000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8"/>
                      </a:solidFill>
                      <a:prstDash val="solid"/>
                    </a:lnR>
                    <a:lnB w="9525">
                      <a:solidFill>
                        <a:srgbClr val="D7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0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8"/>
                      </a:solidFill>
                      <a:prstDash val="solid"/>
                    </a:lnR>
                    <a:lnB w="9525">
                      <a:solidFill>
                        <a:srgbClr val="D7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0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Recall@10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E8"/>
                      </a:solidFill>
                      <a:prstDash val="solid"/>
                    </a:lnL>
                    <a:lnR w="9525">
                      <a:solidFill>
                        <a:srgbClr val="D7DFE8"/>
                      </a:solidFill>
                      <a:prstDash val="solid"/>
                    </a:lnR>
                    <a:lnB w="9525">
                      <a:solidFill>
                        <a:srgbClr val="D7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0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0.2526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8"/>
                      </a:solidFill>
                      <a:prstDash val="solid"/>
                    </a:lnR>
                    <a:lnB w="9525">
                      <a:solidFill>
                        <a:srgbClr val="D7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0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8"/>
                      </a:solidFill>
                      <a:prstDash val="solid"/>
                    </a:lnR>
                    <a:lnB w="9525">
                      <a:solidFill>
                        <a:srgbClr val="D7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0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Spearman по ПМИ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E8"/>
                      </a:solidFill>
                      <a:prstDash val="solid"/>
                    </a:lnL>
                    <a:lnR w="9525">
                      <a:solidFill>
                        <a:srgbClr val="D7DFE8"/>
                      </a:solidFill>
                      <a:prstDash val="solid"/>
                    </a:lnR>
                    <a:lnB w="9525">
                      <a:solidFill>
                        <a:srgbClr val="D7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0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0.9999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8"/>
                      </a:solidFill>
                      <a:prstDash val="solid"/>
                    </a:lnR>
                    <a:lnB w="9525">
                      <a:solidFill>
                        <a:srgbClr val="D7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0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8"/>
                      </a:solidFill>
                      <a:prstDash val="solid"/>
                    </a:lnR>
                    <a:lnB w="9525">
                      <a:solidFill>
                        <a:srgbClr val="D7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CC50DA-BA0C-460F-90ED-D4A84D23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rPr>
              <a:t>Нулевые пары: 1604; нарушений А-10: 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3AE695-2383-4710-B4C0-92829D86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Контролируемая синтетика. Для реальных кандидатов необходима независимая разметка.</a:t>
            </a:r>
          </a:p>
        </p:txBody>
      </p:sp>
    </p:spTree>
    <p:extLst>
      <p:ext uri="{BB962C8B-B14F-4D97-AF65-F5344CB8AC3E}">
        <p14:creationId xmlns:p14="http://schemas.microsoft.com/office/powerpoint/2010/main" val="7346960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A18358-A708-4E3F-ACCE-18D674FC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Проверки надёжности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68C681-01B8-4547-9872-F7388C4F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6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6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6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6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6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6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6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6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6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rPr>
              <a:t>138 тестов Python и 4 теста интерфейса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FD6118-5061-49A0-ABE7-746922D4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10572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Score пары одинаков в пулах из 10 и 200 резюме.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При отказе БД API вернул 503 и продолжил работу.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После остановки контейнеров данные восстановлены за 13.5 с.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Максимум ранжирования 200 резюме: 0.16 с при лимите 10 с.</a:t>
            </a:r>
          </a:p>
        </p:txBody>
      </p:sp>
    </p:spTree>
    <p:extLst>
      <p:ext uri="{BB962C8B-B14F-4D97-AF65-F5344CB8AC3E}">
        <p14:creationId xmlns:p14="http://schemas.microsoft.com/office/powerpoint/2010/main" val="17046869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24886A-C562-4931-8FBE-F1D11D74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Замечания и формальная приёмка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EF17E1-E7B7-427B-A6BC-9DA83EA1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250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250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250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250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250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250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250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250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250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63B66"/>
                </a:solidFill>
                <a:latin typeface="Helvetica Neue"/>
                <a:ea typeface="Helvetica Neue"/>
                <a:cs typeface="Helvetica Neue"/>
              </a:rPr>
              <a:t>А-18: в старом коммите найден контакт; по решению пользователя история сохранена.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85FBB6-0CA2-459E-B1D4-085AE5C4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10572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Нужны независимое развёртывание представителем Заказчика, проверка выбранных браузеров и комплект документов по актуальному ТЗ v5.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Утверждённый тег, подписи комиссии и акт заполняются после проверки.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Метрики синтетики не подтверждают качество решений о найме реальных людей.</a:t>
            </a:r>
          </a:p>
        </p:txBody>
      </p:sp>
    </p:spTree>
    <p:extLst>
      <p:ext uri="{BB962C8B-B14F-4D97-AF65-F5344CB8AC3E}">
        <p14:creationId xmlns:p14="http://schemas.microsoft.com/office/powerpoint/2010/main" val="16612465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2026-10-21T08:26:08.3520000Z</dcterms:created>
  <dcterms:modified xsi:type="dcterms:W3CDTF">2026-10-21T08:26:08.3520000Z</dcterms:modified>
</coreProperties>
</file>